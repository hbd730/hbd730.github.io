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50" r:id="rId5"/>
    <p:sldMasterId id="2147483653" r:id="rId6"/>
    <p:sldMasterId id="2147483664" r:id="rId7"/>
  </p:sldMasterIdLst>
  <p:notesMasterIdLst>
    <p:notesMasterId r:id="rId9"/>
  </p:notesMasterIdLst>
  <p:sldIdLst>
    <p:sldId id="55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455A"/>
    <a:srgbClr val="F0533F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3B8C67-9404-4CCC-AE6F-064E878CD0E2}" v="15" dt="2024-04-12T07:28:36.7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277" autoAdjust="0"/>
  </p:normalViewPr>
  <p:slideViewPr>
    <p:cSldViewPr snapToGrid="0" snapToObjects="1">
      <p:cViewPr varScale="1">
        <p:scale>
          <a:sx n="113" d="100"/>
          <a:sy n="113" d="100"/>
        </p:scale>
        <p:origin x="255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F8B34-8BBD-44AF-B9E1-E916F4E8AF7A}" type="datetimeFigureOut">
              <a:rPr lang="en-AU" smtClean="0"/>
              <a:t>16/04/2024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CB6288-ECD5-46E0-80B4-42F8BE6035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72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>
                <a:cs typeface="Calibri"/>
              </a:rPr>
              <a:t>Peter Huang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CB6288-ECD5-46E0-80B4-42F8BE6035F3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4191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C01FF0-0609-814A-8193-9D60CCDB2A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7617" y="2468820"/>
            <a:ext cx="5003444" cy="113321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D58510F-4141-3643-9C7F-B7CAA57BC5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7616" y="3666432"/>
            <a:ext cx="4900413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F822E74-FE4D-5746-B631-4A5D0A291612}"/>
              </a:ext>
            </a:extLst>
          </p:cNvPr>
          <p:cNvCxnSpPr>
            <a:cxnSpLocks/>
          </p:cNvCxnSpPr>
          <p:nvPr userDrawn="1"/>
        </p:nvCxnSpPr>
        <p:spPr>
          <a:xfrm>
            <a:off x="6323527" y="3538050"/>
            <a:ext cx="4784502" cy="0"/>
          </a:xfrm>
          <a:prstGeom prst="line">
            <a:avLst/>
          </a:prstGeom>
          <a:ln w="34925">
            <a:solidFill>
              <a:srgbClr val="E04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F8050B47-9D0F-F2CD-D911-2B5DB9689D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069" y="2604689"/>
            <a:ext cx="3235728" cy="164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1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ed Slide -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F1971-EB9F-8A45-8F32-82EA662B6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89020"/>
            <a:ext cx="10515600" cy="830688"/>
          </a:xfrm>
          <a:prstGeom prst="rect">
            <a:avLst/>
          </a:prstGeom>
        </p:spPr>
        <p:txBody>
          <a:bodyPr/>
          <a:lstStyle>
            <a:lvl1pPr>
              <a:defRPr sz="4000" b="1" u="sng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30B52-C4DF-824E-84E2-E5D26479B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85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l">
              <a:buNone/>
              <a:defRPr>
                <a:solidFill>
                  <a:schemeClr val="bg1"/>
                </a:solidFill>
              </a:defRPr>
            </a:lvl2pPr>
            <a:lvl3pPr marL="914400" indent="0" algn="l">
              <a:buNone/>
              <a:defRPr>
                <a:solidFill>
                  <a:schemeClr val="bg1"/>
                </a:solidFill>
              </a:defRPr>
            </a:lvl3pPr>
            <a:lvl4pPr marL="1371600" indent="0" algn="l">
              <a:buNone/>
              <a:defRPr>
                <a:solidFill>
                  <a:schemeClr val="bg1"/>
                </a:solidFill>
              </a:defRPr>
            </a:lvl4pPr>
            <a:lvl5pPr marL="1828800" indent="0" algn="l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070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 -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947903-E5FF-A548-8143-4443C44D3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85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B1B1B1"/>
                </a:solidFill>
              </a:defRPr>
            </a:lvl1pPr>
            <a:lvl2pPr marL="457200" indent="0" algn="l">
              <a:buNone/>
              <a:defRPr>
                <a:solidFill>
                  <a:srgbClr val="B1B1B1"/>
                </a:solidFill>
              </a:defRPr>
            </a:lvl2pPr>
            <a:lvl3pPr marL="914400" indent="0" algn="l">
              <a:buNone/>
              <a:defRPr>
                <a:solidFill>
                  <a:srgbClr val="B1B1B1"/>
                </a:solidFill>
              </a:defRPr>
            </a:lvl3pPr>
            <a:lvl4pPr marL="1371600" indent="0" algn="l">
              <a:buNone/>
              <a:defRPr>
                <a:solidFill>
                  <a:srgbClr val="B1B1B1"/>
                </a:solidFill>
              </a:defRPr>
            </a:lvl4pPr>
            <a:lvl5pPr marL="1828800" indent="0" algn="l">
              <a:buNone/>
              <a:defRPr>
                <a:solidFill>
                  <a:srgbClr val="B1B1B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9298EF-9F03-0A46-9728-ABF134225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89020"/>
            <a:ext cx="10515600" cy="830688"/>
          </a:xfrm>
          <a:prstGeom prst="rect">
            <a:avLst/>
          </a:prstGeom>
        </p:spPr>
        <p:txBody>
          <a:bodyPr/>
          <a:lstStyle>
            <a:lvl1pPr>
              <a:defRPr sz="4000" b="1" u="sng">
                <a:solidFill>
                  <a:srgbClr val="B1B1B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729723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265865D-3237-684B-8CD5-ACE4B2BBC3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4338" y="1873719"/>
            <a:ext cx="4937063" cy="336260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8BDC59-D1C9-F94F-9344-FABBF663A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2090" y="1873719"/>
            <a:ext cx="5321710" cy="336260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B1B1B1"/>
                </a:solidFill>
              </a:defRPr>
            </a:lvl1pPr>
            <a:lvl2pPr marL="457200" indent="0" algn="l">
              <a:buNone/>
              <a:defRPr>
                <a:solidFill>
                  <a:srgbClr val="B1B1B1"/>
                </a:solidFill>
              </a:defRPr>
            </a:lvl2pPr>
            <a:lvl3pPr marL="914400" indent="0" algn="l">
              <a:buNone/>
              <a:defRPr>
                <a:solidFill>
                  <a:srgbClr val="B1B1B1"/>
                </a:solidFill>
              </a:defRPr>
            </a:lvl3pPr>
            <a:lvl4pPr marL="1371600" indent="0" algn="l">
              <a:buNone/>
              <a:defRPr>
                <a:solidFill>
                  <a:srgbClr val="B1B1B1"/>
                </a:solidFill>
              </a:defRPr>
            </a:lvl4pPr>
            <a:lvl5pPr marL="1828800" indent="0" algn="l">
              <a:buNone/>
              <a:defRPr>
                <a:solidFill>
                  <a:srgbClr val="B1B1B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F4D9868-45B0-DB4B-9EBF-E85AD7AE90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89020"/>
            <a:ext cx="10515600" cy="830688"/>
          </a:xfrm>
          <a:prstGeom prst="rect">
            <a:avLst/>
          </a:prstGeom>
        </p:spPr>
        <p:txBody>
          <a:bodyPr/>
          <a:lstStyle>
            <a:lvl1pPr>
              <a:defRPr sz="4000" b="1" u="sng">
                <a:solidFill>
                  <a:srgbClr val="B1B1B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476051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 -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59561EB-8C3B-4B40-9884-BAB0112621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89020"/>
            <a:ext cx="10515600" cy="830688"/>
          </a:xfrm>
          <a:prstGeom prst="rect">
            <a:avLst/>
          </a:prstGeom>
        </p:spPr>
        <p:txBody>
          <a:bodyPr/>
          <a:lstStyle>
            <a:lvl1pPr>
              <a:defRPr sz="4000" b="1" u="sng">
                <a:solidFill>
                  <a:srgbClr val="B1B1B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33642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P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83CF51-2996-1E4F-8BC6-7CCD2DC6AA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71" y="5279385"/>
            <a:ext cx="634592" cy="115579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825849B1-6159-514B-8D67-94F165B09F55}"/>
              </a:ext>
            </a:extLst>
          </p:cNvPr>
          <p:cNvSpPr txBox="1">
            <a:spLocks/>
          </p:cNvSpPr>
          <p:nvPr userDrawn="1"/>
        </p:nvSpPr>
        <p:spPr>
          <a:xfrm>
            <a:off x="1314" y="2601310"/>
            <a:ext cx="12192000" cy="1263869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AU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n-AU" sz="20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developing tomorrow’s technology</a:t>
            </a:r>
            <a:b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1800" dirty="0">
                <a:solidFill>
                  <a:srgbClr val="FFFFFF"/>
                </a:solidFill>
                <a:latin typeface="+mj-lt"/>
                <a:cs typeface="Calibri" panose="020F0502020204030204" pitchFamily="34" charset="0"/>
              </a:rPr>
              <a:t>MELBOURNE | STOCKHOLM | HO CHI MINH CITY | ROME | SAN JOSE</a:t>
            </a:r>
            <a:b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000" b="1" dirty="0">
                <a:solidFill>
                  <a:srgbClr val="F0533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dektechnologies.com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4C230-6CC9-0644-BAB9-6DE103757B18}"/>
              </a:ext>
            </a:extLst>
          </p:cNvPr>
          <p:cNvCxnSpPr>
            <a:cxnSpLocks/>
          </p:cNvCxnSpPr>
          <p:nvPr userDrawn="1"/>
        </p:nvCxnSpPr>
        <p:spPr>
          <a:xfrm>
            <a:off x="2930744" y="3151797"/>
            <a:ext cx="6336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1D7F0C-FEE7-9B40-81A7-630BBAE9DD72}"/>
              </a:ext>
            </a:extLst>
          </p:cNvPr>
          <p:cNvCxnSpPr>
            <a:cxnSpLocks/>
          </p:cNvCxnSpPr>
          <p:nvPr userDrawn="1"/>
        </p:nvCxnSpPr>
        <p:spPr>
          <a:xfrm>
            <a:off x="2930744" y="3540682"/>
            <a:ext cx="6336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4C8154AE-8696-C54B-6399-6365211DBB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5514178"/>
            <a:ext cx="2480579" cy="126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12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91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637564"/>
            <a:ext cx="12192000" cy="228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4DE16475-5959-3FB6-3BA3-B68A4733DA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774" y="5570204"/>
            <a:ext cx="1873226" cy="95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79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41603A0D-C321-36BB-470D-E170897E746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125" y="5428453"/>
            <a:ext cx="2219325" cy="113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3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6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79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B4223D-2F11-40FC-84E2-1780B3BA5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5" y="186395"/>
            <a:ext cx="11139054" cy="830688"/>
          </a:xfrm>
        </p:spPr>
        <p:txBody>
          <a:bodyPr lIns="91440" tIns="45720" rIns="91440" bIns="45720" anchor="t"/>
          <a:lstStyle/>
          <a:p>
            <a:r>
              <a:rPr lang="sv-SE" dirty="0">
                <a:latin typeface="Calibri"/>
                <a:cs typeface="Calibri"/>
              </a:rPr>
              <a:t>DEK CANDIDATE Peter Huang(AU)</a:t>
            </a:r>
            <a:endParaRPr lang="sv-SE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68F68AB-9129-4549-ABDE-8BFAA9DED885}"/>
              </a:ext>
            </a:extLst>
          </p:cNvPr>
          <p:cNvSpPr txBox="1">
            <a:spLocks/>
          </p:cNvSpPr>
          <p:nvPr/>
        </p:nvSpPr>
        <p:spPr>
          <a:xfrm>
            <a:off x="736565" y="1058904"/>
            <a:ext cx="4523809" cy="908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1008126" rtl="0" eaLnBrk="1" latinLnBrk="0" hangingPunct="1">
              <a:lnSpc>
                <a:spcPct val="90000"/>
              </a:lnSpc>
              <a:spcBef>
                <a:spcPts val="1103"/>
              </a:spcBef>
              <a:buClr>
                <a:srgbClr val="273879"/>
              </a:buClr>
              <a:buSzPct val="130000"/>
              <a:buFont typeface="Arial" panose="020B0604020202020204" pitchFamily="34" charset="0"/>
              <a:buNone/>
              <a:defRPr sz="2646" b="1" kern="1200">
                <a:solidFill>
                  <a:srgbClr val="273879"/>
                </a:solidFill>
                <a:latin typeface="+mj-lt"/>
                <a:ea typeface="+mn-ea"/>
                <a:cs typeface="+mn-cs"/>
              </a:defRPr>
            </a:lvl1pPr>
            <a:lvl2pPr marL="504063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Clr>
                <a:srgbClr val="273879"/>
              </a:buClr>
              <a:buFont typeface="Arial" panose="020B0604020202020204" pitchFamily="34" charset="0"/>
              <a:buNone/>
              <a:defRPr sz="2205" b="1" kern="1200">
                <a:solidFill>
                  <a:srgbClr val="273879"/>
                </a:solidFill>
                <a:latin typeface="+mn-lt"/>
                <a:ea typeface="+mn-ea"/>
                <a:cs typeface="+mn-cs"/>
              </a:defRPr>
            </a:lvl2pPr>
            <a:lvl3pPr marL="1008126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Clr>
                <a:srgbClr val="273879"/>
              </a:buClr>
              <a:buFont typeface="Arial" panose="020B0604020202020204" pitchFamily="34" charset="0"/>
              <a:buNone/>
              <a:defRPr sz="1985" b="1" kern="1200">
                <a:solidFill>
                  <a:srgbClr val="273879"/>
                </a:solidFill>
                <a:latin typeface="+mn-lt"/>
                <a:ea typeface="+mn-ea"/>
                <a:cs typeface="+mn-cs"/>
              </a:defRPr>
            </a:lvl3pPr>
            <a:lvl4pPr marL="1512189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Clr>
                <a:srgbClr val="273879"/>
              </a:buClr>
              <a:buFont typeface="Arial" panose="020B0604020202020204" pitchFamily="34" charset="0"/>
              <a:buNone/>
              <a:defRPr sz="1764" b="1" kern="1200">
                <a:solidFill>
                  <a:srgbClr val="273879"/>
                </a:solidFill>
                <a:latin typeface="+mn-lt"/>
                <a:ea typeface="+mn-ea"/>
                <a:cs typeface="+mn-cs"/>
              </a:defRPr>
            </a:lvl4pPr>
            <a:lvl5pPr marL="2016252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Clr>
                <a:srgbClr val="273879"/>
              </a:buClr>
              <a:buFont typeface="Arial" panose="020B0604020202020204" pitchFamily="34" charset="0"/>
              <a:buNone/>
              <a:defRPr sz="1764" b="1" kern="1200">
                <a:solidFill>
                  <a:srgbClr val="273879"/>
                </a:solidFill>
                <a:latin typeface="+mn-lt"/>
                <a:ea typeface="+mn-ea"/>
                <a:cs typeface="+mn-cs"/>
              </a:defRPr>
            </a:lvl5pPr>
            <a:lvl6pPr marL="2520315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4378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8441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2504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08126" rtl="0" eaLnBrk="1" fontAlgn="auto" latinLnBrk="0" hangingPunct="1">
              <a:lnSpc>
                <a:spcPct val="90000"/>
              </a:lnSpc>
              <a:spcBef>
                <a:spcPts val="1103"/>
              </a:spcBef>
              <a:spcAft>
                <a:spcPts val="0"/>
              </a:spcAft>
              <a:buClr>
                <a:srgbClr val="273879"/>
              </a:buClr>
              <a:buSzPct val="130000"/>
              <a:buFont typeface="Arial" panose="020B0604020202020204" pitchFamily="34" charset="0"/>
              <a:buNone/>
              <a:tabLst/>
              <a:defRPr/>
            </a:pPr>
            <a:r>
              <a:rPr kumimoji="0" lang="sv-SE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RELEVANT EXPERTISE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ADAD8E4-41E8-4C4D-8670-53533BC616BC}"/>
              </a:ext>
            </a:extLst>
          </p:cNvPr>
          <p:cNvSpPr txBox="1">
            <a:spLocks/>
          </p:cNvSpPr>
          <p:nvPr/>
        </p:nvSpPr>
        <p:spPr>
          <a:xfrm>
            <a:off x="5413534" y="1058904"/>
            <a:ext cx="4546088" cy="908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1008126" rtl="0" eaLnBrk="1" latinLnBrk="0" hangingPunct="1">
              <a:lnSpc>
                <a:spcPct val="90000"/>
              </a:lnSpc>
              <a:spcBef>
                <a:spcPts val="1103"/>
              </a:spcBef>
              <a:buClr>
                <a:srgbClr val="273879"/>
              </a:buClr>
              <a:buSzPct val="130000"/>
              <a:buFont typeface="Arial" panose="020B0604020202020204" pitchFamily="34" charset="0"/>
              <a:buNone/>
              <a:defRPr sz="2400" b="1" kern="1200">
                <a:solidFill>
                  <a:srgbClr val="273879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504063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Clr>
                <a:srgbClr val="273879"/>
              </a:buClr>
              <a:buFont typeface="Arial" panose="020B0604020202020204" pitchFamily="34" charset="0"/>
              <a:buNone/>
              <a:defRPr sz="2205" b="1" kern="1200">
                <a:solidFill>
                  <a:srgbClr val="273879"/>
                </a:solidFill>
                <a:latin typeface="+mn-lt"/>
                <a:ea typeface="+mn-ea"/>
                <a:cs typeface="+mn-cs"/>
              </a:defRPr>
            </a:lvl2pPr>
            <a:lvl3pPr marL="1008126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Clr>
                <a:srgbClr val="273879"/>
              </a:buClr>
              <a:buFont typeface="Arial" panose="020B0604020202020204" pitchFamily="34" charset="0"/>
              <a:buNone/>
              <a:defRPr sz="1985" b="1" kern="1200">
                <a:solidFill>
                  <a:srgbClr val="273879"/>
                </a:solidFill>
                <a:latin typeface="+mn-lt"/>
                <a:ea typeface="+mn-ea"/>
                <a:cs typeface="+mn-cs"/>
              </a:defRPr>
            </a:lvl3pPr>
            <a:lvl4pPr marL="1512189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Clr>
                <a:srgbClr val="273879"/>
              </a:buClr>
              <a:buFont typeface="Arial" panose="020B0604020202020204" pitchFamily="34" charset="0"/>
              <a:buNone/>
              <a:defRPr sz="1764" b="1" kern="1200">
                <a:solidFill>
                  <a:srgbClr val="273879"/>
                </a:solidFill>
                <a:latin typeface="+mn-lt"/>
                <a:ea typeface="+mn-ea"/>
                <a:cs typeface="+mn-cs"/>
              </a:defRPr>
            </a:lvl4pPr>
            <a:lvl5pPr marL="2016252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Clr>
                <a:srgbClr val="273879"/>
              </a:buClr>
              <a:buFont typeface="Arial" panose="020B0604020202020204" pitchFamily="34" charset="0"/>
              <a:buNone/>
              <a:defRPr sz="1764" b="1" kern="1200">
                <a:solidFill>
                  <a:srgbClr val="273879"/>
                </a:solidFill>
                <a:latin typeface="+mn-lt"/>
                <a:ea typeface="+mn-ea"/>
                <a:cs typeface="+mn-cs"/>
              </a:defRPr>
            </a:lvl5pPr>
            <a:lvl6pPr marL="2520315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4378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8441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2504" indent="0" algn="l" defTabSz="100812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08126" rtl="0" eaLnBrk="1" fontAlgn="auto" latinLnBrk="0" hangingPunct="1">
              <a:lnSpc>
                <a:spcPct val="90000"/>
              </a:lnSpc>
              <a:spcBef>
                <a:spcPts val="1103"/>
              </a:spcBef>
              <a:spcAft>
                <a:spcPts val="0"/>
              </a:spcAft>
              <a:buClr>
                <a:srgbClr val="273879"/>
              </a:buClr>
              <a:buSzPct val="130000"/>
              <a:buFont typeface="Arial" panose="020B0604020202020204" pitchFamily="34" charset="0"/>
              <a:buNone/>
              <a:tabLst/>
              <a:defRPr/>
            </a:pPr>
            <a:r>
              <a:rPr kumimoji="0" lang="sv-SE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anose="020B0502040204020203" pitchFamily="34" charset="0"/>
              </a:rPr>
              <a:t>RELEVANT PROJECT EXPERIENCE</a:t>
            </a:r>
          </a:p>
        </p:txBody>
      </p:sp>
      <p:sp>
        <p:nvSpPr>
          <p:cNvPr id="2" name="CustomShape 3">
            <a:extLst>
              <a:ext uri="{FF2B5EF4-FFF2-40B4-BE49-F238E27FC236}">
                <a16:creationId xmlns:a16="http://schemas.microsoft.com/office/drawing/2014/main" id="{E4898C70-AB2B-B112-19F0-CE3817291AEA}"/>
              </a:ext>
            </a:extLst>
          </p:cNvPr>
          <p:cNvSpPr/>
          <p:nvPr/>
        </p:nvSpPr>
        <p:spPr>
          <a:xfrm>
            <a:off x="736560" y="2171880"/>
            <a:ext cx="4522680" cy="4253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251640" indent="-250560">
              <a:lnSpc>
                <a:spcPct val="90000"/>
              </a:lnSpc>
              <a:spcBef>
                <a:spcPts val="1103"/>
              </a:spcBef>
              <a:buClr>
                <a:srgbClr val="273879"/>
              </a:buClr>
              <a:buSzPct val="130000"/>
              <a:buFont typeface="Arial"/>
              <a:buChar char="•"/>
            </a:pPr>
            <a:r>
              <a:rPr lang="en-US" sz="1200" b="0" strike="noStrike" spc="-1" dirty="0">
                <a:solidFill>
                  <a:srgbClr val="3B455A"/>
                </a:solidFill>
                <a:latin typeface="Calibri"/>
                <a:ea typeface="DejaVu Sans"/>
              </a:rPr>
              <a:t>A Senior Engineer, with over 12 years of experience working in  software and system engineering across </a:t>
            </a:r>
            <a:r>
              <a:rPr lang="en-US" sz="1200" spc="-1" dirty="0">
                <a:solidFill>
                  <a:srgbClr val="3B455A"/>
                </a:solidFill>
                <a:latin typeface="Calibri"/>
                <a:ea typeface="DejaVu Sans"/>
              </a:rPr>
              <a:t>embedded firmware, middleware and application development</a:t>
            </a:r>
            <a:endParaRPr lang="en-US" sz="1200" spc="-1" dirty="0">
              <a:latin typeface="Arial"/>
            </a:endParaRPr>
          </a:p>
          <a:p>
            <a:pPr marL="251640" indent="-250560">
              <a:lnSpc>
                <a:spcPct val="90000"/>
              </a:lnSpc>
              <a:spcBef>
                <a:spcPts val="1103"/>
              </a:spcBef>
              <a:buClr>
                <a:srgbClr val="273879"/>
              </a:buClr>
              <a:buSzPct val="130000"/>
              <a:buFont typeface="Arial"/>
              <a:buChar char="•"/>
            </a:pPr>
            <a:r>
              <a:rPr lang="en-US" sz="1200" spc="-1" dirty="0">
                <a:solidFill>
                  <a:srgbClr val="3B455A"/>
                </a:solidFill>
                <a:latin typeface="Calibri"/>
              </a:rPr>
              <a:t>Model based system engineering methodology and project management </a:t>
            </a:r>
          </a:p>
          <a:p>
            <a:pPr marL="251640" indent="-250560">
              <a:lnSpc>
                <a:spcPct val="90000"/>
              </a:lnSpc>
              <a:spcBef>
                <a:spcPts val="1103"/>
              </a:spcBef>
              <a:buClr>
                <a:srgbClr val="273879"/>
              </a:buClr>
              <a:buSzPct val="130000"/>
              <a:buFont typeface="Arial"/>
              <a:buChar char="•"/>
            </a:pPr>
            <a:r>
              <a:rPr lang="en-US" sz="1200" spc="-1" dirty="0">
                <a:solidFill>
                  <a:srgbClr val="3B455A"/>
                </a:solidFill>
                <a:latin typeface="Calibri"/>
              </a:rPr>
              <a:t>Requirement analysis, system and software architecture design and simulation</a:t>
            </a:r>
          </a:p>
          <a:p>
            <a:pPr marL="251640" indent="-250560">
              <a:lnSpc>
                <a:spcPct val="90000"/>
              </a:lnSpc>
              <a:spcBef>
                <a:spcPts val="1103"/>
              </a:spcBef>
              <a:buClr>
                <a:srgbClr val="273879"/>
              </a:buClr>
              <a:buSzPct val="130000"/>
              <a:buFont typeface="Arial"/>
              <a:buChar char="•"/>
            </a:pPr>
            <a:r>
              <a:rPr lang="en-US" sz="1200" spc="-1" dirty="0">
                <a:solidFill>
                  <a:srgbClr val="3B455A"/>
                </a:solidFill>
                <a:ea typeface="DejaVu Sans"/>
              </a:rPr>
              <a:t>Languages: C, C++, C#, </a:t>
            </a:r>
            <a:r>
              <a:rPr lang="en-US" sz="1200" spc="-1" dirty="0" err="1">
                <a:solidFill>
                  <a:srgbClr val="3B455A"/>
                </a:solidFill>
                <a:ea typeface="DejaVu Sans"/>
              </a:rPr>
              <a:t>.Net</a:t>
            </a:r>
            <a:r>
              <a:rPr lang="en-US" sz="1200" spc="-1" dirty="0">
                <a:solidFill>
                  <a:srgbClr val="3B455A"/>
                </a:solidFill>
                <a:ea typeface="DejaVu Sans"/>
              </a:rPr>
              <a:t>, F sharp, Python, Bash Scripting.</a:t>
            </a:r>
            <a:endParaRPr lang="en-US" sz="1200" spc="-1" dirty="0">
              <a:latin typeface="Arial"/>
            </a:endParaRPr>
          </a:p>
          <a:p>
            <a:pPr marL="251640" indent="-250560">
              <a:lnSpc>
                <a:spcPct val="90000"/>
              </a:lnSpc>
              <a:spcBef>
                <a:spcPts val="1103"/>
              </a:spcBef>
              <a:buClr>
                <a:srgbClr val="273879"/>
              </a:buClr>
              <a:buSzPct val="130000"/>
              <a:buFont typeface="Arial"/>
              <a:buChar char="•"/>
            </a:pPr>
            <a:r>
              <a:rPr lang="en-US" sz="1200" spc="-1" dirty="0">
                <a:solidFill>
                  <a:srgbClr val="3B455A"/>
                </a:solidFill>
                <a:ea typeface="DejaVu Sans"/>
              </a:rPr>
              <a:t>Technical capabilities: Linux, </a:t>
            </a:r>
            <a:r>
              <a:rPr lang="en-US" sz="1200" spc="-1" dirty="0" err="1">
                <a:solidFill>
                  <a:srgbClr val="3B455A"/>
                </a:solidFill>
                <a:ea typeface="DejaVu Sans"/>
              </a:rPr>
              <a:t>Yocto</a:t>
            </a:r>
            <a:r>
              <a:rPr lang="en-US" sz="1200" spc="-1" dirty="0">
                <a:solidFill>
                  <a:srgbClr val="3B455A"/>
                </a:solidFill>
                <a:ea typeface="DejaVu Sans"/>
              </a:rPr>
              <a:t>, Docker, TCP/IP, Networking Debugging and Troubleshooting</a:t>
            </a:r>
            <a:endParaRPr lang="en-US" sz="1200" spc="-1" dirty="0">
              <a:solidFill>
                <a:srgbClr val="3B455A"/>
              </a:solidFill>
              <a:latin typeface="Calibri"/>
            </a:endParaRPr>
          </a:p>
          <a:p>
            <a:pPr marL="251640" indent="-250560">
              <a:lnSpc>
                <a:spcPct val="90000"/>
              </a:lnSpc>
              <a:spcBef>
                <a:spcPts val="1103"/>
              </a:spcBef>
              <a:buClr>
                <a:srgbClr val="273879"/>
              </a:buClr>
              <a:buSzPct val="130000"/>
              <a:buFont typeface="Arial"/>
              <a:buChar char="•"/>
            </a:pPr>
            <a:r>
              <a:rPr lang="en-US" sz="1200" spc="-1" dirty="0">
                <a:solidFill>
                  <a:srgbClr val="3B455A"/>
                </a:solidFill>
                <a:latin typeface="Calibri"/>
              </a:rPr>
              <a:t>Certified AWS Solution Architect</a:t>
            </a:r>
            <a:endParaRPr lang="en-US" sz="1200" spc="-1" dirty="0">
              <a:solidFill>
                <a:srgbClr val="3B455A"/>
              </a:solidFill>
              <a:ea typeface="DejaVu Sans"/>
            </a:endParaRPr>
          </a:p>
        </p:txBody>
      </p:sp>
      <p:sp>
        <p:nvSpPr>
          <p:cNvPr id="3" name="CustomShape 5">
            <a:extLst>
              <a:ext uri="{FF2B5EF4-FFF2-40B4-BE49-F238E27FC236}">
                <a16:creationId xmlns:a16="http://schemas.microsoft.com/office/drawing/2014/main" id="{1DAE0D40-1531-ECB4-7F53-F0C5EBCC6039}"/>
              </a:ext>
            </a:extLst>
          </p:cNvPr>
          <p:cNvSpPr/>
          <p:nvPr/>
        </p:nvSpPr>
        <p:spPr>
          <a:xfrm>
            <a:off x="5391360" y="2091959"/>
            <a:ext cx="4568262" cy="45120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defTabSz="821530">
              <a:spcBef>
                <a:spcPts val="1800"/>
              </a:spcBef>
              <a:defRPr sz="2000">
                <a:solidFill>
                  <a:srgbClr val="5D5D5D"/>
                </a:solidFill>
              </a:defRPr>
            </a:pPr>
            <a:r>
              <a:rPr lang="en-AU" sz="1400" b="1" dirty="0"/>
              <a:t>Automotive (4 years)</a:t>
            </a:r>
          </a:p>
          <a:p>
            <a:pPr defTabSz="821530">
              <a:spcBef>
                <a:spcPts val="1800"/>
              </a:spcBef>
              <a:defRPr sz="2000">
                <a:solidFill>
                  <a:srgbClr val="5D5D5D"/>
                </a:solidFill>
              </a:defRPr>
            </a:pPr>
            <a:r>
              <a:rPr lang="en-AU" sz="1400" dirty="0"/>
              <a:t>Provide software and system solution in automotive off market, automated driving pre-development, production engineering and OEM projects. </a:t>
            </a:r>
          </a:p>
          <a:p>
            <a:pPr defTabSz="821530">
              <a:spcBef>
                <a:spcPts val="1800"/>
              </a:spcBef>
              <a:defRPr sz="2000">
                <a:solidFill>
                  <a:srgbClr val="5D5D5D"/>
                </a:solidFill>
              </a:defRPr>
            </a:pPr>
            <a:r>
              <a:rPr lang="en-AU" sz="1400" dirty="0"/>
              <a:t>Experience in vehicle system architecture, 4G network connectivity, ECU firmware, IoT Gateway, fleet management, vehicle networking and sensor integration. </a:t>
            </a:r>
          </a:p>
          <a:p>
            <a:pPr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en-US" sz="1200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1400" b="1" dirty="0">
                <a:solidFill>
                  <a:srgbClr val="5D5D5D"/>
                </a:solidFill>
              </a:rPr>
              <a:t>Consumer Electronics (4 years)</a:t>
            </a:r>
          </a:p>
          <a:p>
            <a:pPr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en-US" sz="1400" b="1" dirty="0">
              <a:solidFill>
                <a:srgbClr val="5D5D5D"/>
              </a:solidFill>
            </a:endParaRPr>
          </a:p>
          <a:p>
            <a:pPr algn="l"/>
            <a:r>
              <a:rPr lang="en-GB" sz="1400" dirty="0">
                <a:solidFill>
                  <a:srgbClr val="5D5D5D"/>
                </a:solidFill>
              </a:rPr>
              <a:t>Real time embedded software development for high</a:t>
            </a:r>
          </a:p>
          <a:p>
            <a:pPr algn="l"/>
            <a:r>
              <a:rPr lang="en-GB" sz="1400" dirty="0">
                <a:solidFill>
                  <a:srgbClr val="5D5D5D"/>
                </a:solidFill>
              </a:rPr>
              <a:t>performance video post-production product, including drivers and application on micro-kernel based OS, API</a:t>
            </a:r>
          </a:p>
          <a:p>
            <a:pPr algn="l"/>
            <a:r>
              <a:rPr lang="en-GB" sz="1400" dirty="0">
                <a:solidFill>
                  <a:srgbClr val="5D5D5D"/>
                </a:solidFill>
              </a:rPr>
              <a:t>and multi-threaded cross platform video playback and capture applications and tools..</a:t>
            </a:r>
            <a:endParaRPr lang="en-US" sz="1400" dirty="0">
              <a:solidFill>
                <a:srgbClr val="5D5D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73465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d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 Slide">
  <a:themeElements>
    <a:clrScheme name="DEK COLOUR PALLETTE">
      <a:dk1>
        <a:srgbClr val="000000"/>
      </a:dk1>
      <a:lt1>
        <a:srgbClr val="FFFFFF"/>
      </a:lt1>
      <a:dk2>
        <a:srgbClr val="44546A"/>
      </a:dk2>
      <a:lt2>
        <a:srgbClr val="B1B1B1"/>
      </a:lt2>
      <a:accent1>
        <a:srgbClr val="13284B"/>
      </a:accent1>
      <a:accent2>
        <a:srgbClr val="324457"/>
      </a:accent2>
      <a:accent3>
        <a:srgbClr val="51668C"/>
      </a:accent3>
      <a:accent4>
        <a:srgbClr val="7F8DAB"/>
      </a:accent4>
      <a:accent5>
        <a:srgbClr val="EE5445"/>
      </a:accent5>
      <a:accent6>
        <a:srgbClr val="F27847"/>
      </a:accent6>
      <a:hlink>
        <a:srgbClr val="F5977F"/>
      </a:hlink>
      <a:folHlink>
        <a:srgbClr val="F9B8A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Back Pag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C238964FCB41459414E89754AC8E59" ma:contentTypeVersion="8" ma:contentTypeDescription="Create a new document." ma:contentTypeScope="" ma:versionID="c9db6befa023d84ce55cf23c1fa2ec28">
  <xsd:schema xmlns:xsd="http://www.w3.org/2001/XMLSchema" xmlns:xs="http://www.w3.org/2001/XMLSchema" xmlns:p="http://schemas.microsoft.com/office/2006/metadata/properties" xmlns:ns2="06f888a4-3a07-4244-ab67-af42749e613b" xmlns:ns3="f6520e88-618a-4efa-8ba7-2b5718764da3" targetNamespace="http://schemas.microsoft.com/office/2006/metadata/properties" ma:root="true" ma:fieldsID="fb5645eb2c33ecebe897c3616a06a4f5" ns2:_="" ns3:_="">
    <xsd:import namespace="06f888a4-3a07-4244-ab67-af42749e613b"/>
    <xsd:import namespace="f6520e88-618a-4efa-8ba7-2b5718764d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f888a4-3a07-4244-ab67-af42749e61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20e88-618a-4efa-8ba7-2b5718764da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E8C087-D7AF-44F1-B3DF-E4775B6F88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f888a4-3a07-4244-ab67-af42749e613b"/>
    <ds:schemaRef ds:uri="f6520e88-618a-4efa-8ba7-2b5718764d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74AD7B-F571-425C-A156-ABD8D8879613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2f5492ed-990a-4035-abd2-a1aec8b13dcf"/>
    <ds:schemaRef ds:uri="0479ca17-df88-4ece-abd9-e16cc72c5e58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FB4257E-545B-4C0C-8550-CF9E04FD0A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23008</TotalTime>
  <Words>187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DejaVu Sans</vt:lpstr>
      <vt:lpstr>Arial</vt:lpstr>
      <vt:lpstr>Calibri</vt:lpstr>
      <vt:lpstr>Cover Slide</vt:lpstr>
      <vt:lpstr>Red Slide</vt:lpstr>
      <vt:lpstr>White Slide</vt:lpstr>
      <vt:lpstr>Back Page Slide</vt:lpstr>
      <vt:lpstr>DEK CANDIDATE Peter Huang(AU)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1</dc:title>
  <dc:creator>Microsoft Office User</dc:creator>
  <cp:lastModifiedBy>Peter Huang</cp:lastModifiedBy>
  <cp:revision>352</cp:revision>
  <dcterms:created xsi:type="dcterms:W3CDTF">2018-04-18T08:16:44Z</dcterms:created>
  <dcterms:modified xsi:type="dcterms:W3CDTF">2024-04-16T05:52:24Z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0x010100CCC238964FCB41459414E89754AC8E59</vt:lpwstr>
  </property>
</Properties>
</file>